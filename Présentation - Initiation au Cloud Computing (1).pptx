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40" y="-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FFC84-34B5-4A10-8B02-41E1732968D8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C1BFC-DCDC-4E88-9340-D8110FFD67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230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C1BFC-DCDC-4E88-9340-D8110FFD677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154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657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991225"/>
            <a:ext cx="10668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250029" y="3818633"/>
            <a:ext cx="6835441" cy="963810"/>
          </a:xfrm>
          <a:prstGeom prst="rect">
            <a:avLst/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62000" y="5991225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533400"/>
            <a:ext cx="1933575" cy="304800"/>
          </a:xfrm>
          <a:prstGeom prst="roundRect">
            <a:avLst>
              <a:gd name="adj" fmla="val 50000"/>
            </a:avLst>
          </a:prstGeom>
          <a:solidFill>
            <a:srgbClr val="392C2F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50029" y="3818633"/>
            <a:ext cx="103270" cy="96381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1028700"/>
            <a:ext cx="9701212" cy="963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sz="3300" b="1" i="0" u="none" dirty="0" err="1">
                <a:solidFill>
                  <a:srgbClr val="FFFFFF"/>
                </a:solidFill>
                <a:latin typeface="Plus Jakarta Sans"/>
              </a:rPr>
              <a:t>Cartographie</a:t>
            </a:r>
            <a:r>
              <a:rPr sz="3300" b="1" i="0" u="none" dirty="0">
                <a:solidFill>
                  <a:srgbClr val="FFFFFF"/>
                </a:solidFill>
                <a:latin typeface="Plus Jakarta Sans"/>
              </a:rPr>
              <a:t> &amp; </a:t>
            </a:r>
            <a:r>
              <a:rPr sz="3300" b="1" i="0" u="none" dirty="0" err="1">
                <a:solidFill>
                  <a:srgbClr val="FFFFFF"/>
                </a:solidFill>
                <a:latin typeface="Plus Jakarta Sans"/>
              </a:rPr>
              <a:t>Chiffrage</a:t>
            </a:r>
            <a:r>
              <a:rPr sz="3300" b="1" i="0" u="none" dirty="0">
                <a:solidFill>
                  <a:srgbClr val="FFFFFF"/>
                </a:solidFill>
                <a:latin typeface="Plus Jakarta Sans"/>
              </a:rPr>
              <a:t> des </a:t>
            </a:r>
            <a:r>
              <a:rPr sz="3300" b="1" i="0" u="none" dirty="0">
                <a:solidFill>
                  <a:srgbClr val="F97316"/>
                </a:solidFill>
                <a:latin typeface="Plus Jakarta Sans"/>
              </a:rPr>
              <a:t>Services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144910"/>
            <a:ext cx="790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Analyse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fonctionnelle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selon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les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normes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NIST et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évaluation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économique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d'une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infrastructure Azure vs </a:t>
            </a:r>
            <a:r>
              <a:rPr sz="1350" b="0" i="0" u="none" dirty="0" err="1">
                <a:solidFill>
                  <a:srgbClr val="94A3B8"/>
                </a:solidFill>
                <a:latin typeface="Plus Jakarta Sans"/>
              </a:rPr>
              <a:t>Serveur</a:t>
            </a:r>
            <a:r>
              <a:rPr sz="1350" b="0" i="0" u="none" dirty="0">
                <a:solidFill>
                  <a:srgbClr val="94A3B8"/>
                </a:solidFill>
                <a:latin typeface="Plus Jakarta Sans"/>
              </a:rPr>
              <a:t> Physique.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153150"/>
            <a:ext cx="20597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Projet d'initiation au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9275" y="6153150"/>
            <a:ext cx="169277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Année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Académique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fr-FR" sz="1050" b="0" i="0" u="none" dirty="0">
                <a:solidFill>
                  <a:srgbClr val="64748B"/>
                </a:solidFill>
                <a:latin typeface="Plus Jakarta Sans"/>
              </a:rPr>
              <a:t>2026-2027</a:t>
            </a:r>
            <a:endParaRPr sz="105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590550"/>
            <a:ext cx="1724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97316"/>
                </a:solidFill>
                <a:latin typeface="Plus Jakarta Sans"/>
              </a:rPr>
              <a:t>TP CLOUD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9829" y="3865128"/>
            <a:ext cx="8667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97316"/>
                </a:solidFill>
                <a:latin typeface="Plus Jakarta Sans"/>
              </a:rPr>
              <a:t>PRÉSENTÉ PAR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2296" y="4236386"/>
            <a:ext cx="2057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FFFFFF"/>
                </a:solidFill>
                <a:latin typeface="Plus Jakarta Sans"/>
              </a:rPr>
              <a:t>Étudiante</a:t>
            </a:r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 1</a:t>
            </a:r>
            <a:endParaRPr lang="fr-FR" sz="1200" b="1" i="0" u="none" dirty="0">
              <a:solidFill>
                <a:srgbClr val="FFFFFF"/>
              </a:solidFill>
              <a:latin typeface="Plus Jakarta Sans"/>
            </a:endParaRPr>
          </a:p>
          <a:p>
            <a:pPr algn="l"/>
            <a:r>
              <a:rPr lang="fr-FR" sz="1200" b="1" dirty="0">
                <a:solidFill>
                  <a:srgbClr val="FFFFFF"/>
                </a:solidFill>
                <a:latin typeface="Plus Jakarta Sans"/>
              </a:rPr>
              <a:t>ABE YEPI CHRIST EMMANUEL</a:t>
            </a:r>
            <a:endParaRPr sz="1050" b="1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99696" y="4241849"/>
            <a:ext cx="24193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chemeClr val="bg1"/>
                </a:solidFill>
                <a:latin typeface="Plus Jakarta Sans"/>
              </a:rPr>
              <a:t>Étudiante</a:t>
            </a:r>
            <a:r>
              <a:rPr sz="1200" b="1" i="0" u="none" dirty="0">
                <a:solidFill>
                  <a:schemeClr val="bg1"/>
                </a:solidFill>
                <a:latin typeface="Plus Jakarta Sans"/>
              </a:rPr>
              <a:t> 2 </a:t>
            </a:r>
            <a:endParaRPr lang="fr-FR" sz="1050" b="1" i="0" u="none" dirty="0">
              <a:solidFill>
                <a:schemeClr val="bg1"/>
              </a:solidFill>
              <a:latin typeface="Plus Jakarta Sans"/>
            </a:endParaRPr>
          </a:p>
          <a:p>
            <a:pPr algn="l"/>
            <a:r>
              <a:rPr lang="fr-FR" sz="1050" b="1" i="0" u="none" dirty="0">
                <a:solidFill>
                  <a:schemeClr val="bg1"/>
                </a:solidFill>
                <a:latin typeface="Plus Jakarta Sans"/>
              </a:rPr>
              <a:t>AKELY MAYLINE PHOEBE EDWINA</a:t>
            </a:r>
            <a:endParaRPr sz="105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E3281CB9-8663-EF52-B3D5-4D4DDCDB012C}"/>
              </a:ext>
            </a:extLst>
          </p:cNvPr>
          <p:cNvSpPr txBox="1"/>
          <p:nvPr/>
        </p:nvSpPr>
        <p:spPr>
          <a:xfrm>
            <a:off x="9876171" y="4236386"/>
            <a:ext cx="24193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chemeClr val="bg1"/>
                </a:solidFill>
                <a:latin typeface="Plus Jakarta Sans"/>
              </a:rPr>
              <a:t>Étudiante</a:t>
            </a:r>
            <a:r>
              <a:rPr sz="1200" b="1" i="0" u="none" dirty="0">
                <a:solidFill>
                  <a:schemeClr val="bg1"/>
                </a:solidFill>
                <a:latin typeface="Plus Jakarta Sans"/>
              </a:rPr>
              <a:t> </a:t>
            </a:r>
            <a:r>
              <a:rPr lang="fr-FR" sz="1200" b="1" dirty="0">
                <a:solidFill>
                  <a:schemeClr val="bg1"/>
                </a:solidFill>
                <a:latin typeface="Plus Jakarta Sans"/>
              </a:rPr>
              <a:t>3</a:t>
            </a:r>
            <a:endParaRPr lang="fr-FR" sz="1050" b="1" i="0" u="none" dirty="0">
              <a:solidFill>
                <a:schemeClr val="bg1"/>
              </a:solidFill>
              <a:latin typeface="Plus Jakarta Sans"/>
            </a:endParaRPr>
          </a:p>
          <a:p>
            <a:pPr algn="l"/>
            <a:r>
              <a:rPr lang="fr-FR" sz="1050" b="1" i="0" u="none" dirty="0">
                <a:solidFill>
                  <a:schemeClr val="bg1"/>
                </a:solidFill>
                <a:latin typeface="Plus Jakarta Sans"/>
              </a:rPr>
              <a:t>DANHO AKRE PATRICK-JUNIOR</a:t>
            </a:r>
            <a:endParaRPr sz="105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B8C6AA-5CED-31E5-381D-BBF2C72810D9}"/>
              </a:ext>
            </a:extLst>
          </p:cNvPr>
          <p:cNvSpPr/>
          <p:nvPr/>
        </p:nvSpPr>
        <p:spPr>
          <a:xfrm>
            <a:off x="12784" y="3829694"/>
            <a:ext cx="4451684" cy="963809"/>
          </a:xfrm>
          <a:prstGeom prst="rect">
            <a:avLst/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543A71-069B-AB10-337A-B79080F0A565}"/>
              </a:ext>
            </a:extLst>
          </p:cNvPr>
          <p:cNvSpPr/>
          <p:nvPr/>
        </p:nvSpPr>
        <p:spPr>
          <a:xfrm>
            <a:off x="12784" y="3816611"/>
            <a:ext cx="103270" cy="96381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78F307-1DBA-99E2-E224-78A5FDF1FE13}"/>
              </a:ext>
            </a:extLst>
          </p:cNvPr>
          <p:cNvSpPr/>
          <p:nvPr/>
        </p:nvSpPr>
        <p:spPr>
          <a:xfrm rot="5400000">
            <a:off x="6068491" y="-2347776"/>
            <a:ext cx="46494" cy="12192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120DC05C-D1A1-0EFB-4F4E-C5E704CB9CAE}"/>
              </a:ext>
            </a:extLst>
          </p:cNvPr>
          <p:cNvSpPr txBox="1"/>
          <p:nvPr/>
        </p:nvSpPr>
        <p:spPr>
          <a:xfrm>
            <a:off x="141621" y="3917999"/>
            <a:ext cx="317282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1050" b="1" dirty="0">
                <a:solidFill>
                  <a:srgbClr val="F97316"/>
                </a:solidFill>
                <a:latin typeface="Plus Jakarta Sans"/>
              </a:rPr>
              <a:t>Nom du Professeur:</a:t>
            </a:r>
            <a:endParaRPr sz="1050" b="1" i="0" u="none" dirty="0">
              <a:solidFill>
                <a:srgbClr val="F97316"/>
              </a:solidFill>
              <a:latin typeface="Plus Jakarta Sans"/>
            </a:endParaRPr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4FA24D62-1CC9-A77F-3E19-9A17D779F0DB}"/>
              </a:ext>
            </a:extLst>
          </p:cNvPr>
          <p:cNvSpPr txBox="1"/>
          <p:nvPr/>
        </p:nvSpPr>
        <p:spPr>
          <a:xfrm>
            <a:off x="243138" y="4173906"/>
            <a:ext cx="24193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1200" b="1" dirty="0">
                <a:solidFill>
                  <a:srgbClr val="FFFFFF"/>
                </a:solidFill>
                <a:latin typeface="Plus Jakarta Sans"/>
              </a:rPr>
              <a:t>Dr. BAKAYOKO</a:t>
            </a:r>
            <a:endParaRPr sz="1050" b="1" i="0" u="none" dirty="0">
              <a:solidFill>
                <a:srgbClr val="94A3B8"/>
              </a:solidFill>
              <a:latin typeface="Plus Jakarta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">
        <p:fade/>
      </p:transition>
    </mc:Choice>
    <mc:Fallback xmlns="">
      <p:transition spd="med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3200"/>
            <a:ext cx="3505200" cy="2333625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52712"/>
            <a:ext cx="3505200" cy="25146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33687"/>
            <a:ext cx="3505200" cy="2152650"/>
          </a:xfrm>
          <a:prstGeom prst="roundRect">
            <a:avLst>
              <a:gd name="adj" fmla="val 7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5752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670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480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181350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362" y="3090862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271837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3776662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4143375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4510087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725" y="3686175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725" y="4143375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725" y="4600575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525" y="3776662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525" y="4052887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525" y="4419600"/>
            <a:ext cx="123825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STRUCTURE DU 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Sommaire &amp; Objectifs du Projet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3667125"/>
            <a:ext cx="2771775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Plus Jakarta Sans"/>
              </a:rPr>
              <a:t>Classification IaaS, PaaS, SaaS de 8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3950" y="4124325"/>
            <a:ext cx="3395662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Plus Jakarta Sans"/>
              </a:rPr>
              <a:t>Évaluation selon les 5 critères NIST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3950" y="4400550"/>
            <a:ext cx="2771775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EA580C"/>
                </a:solidFill>
                <a:latin typeface="Plus Jakarta Sans"/>
              </a:rPr>
              <a:t>Identification de la dépendance AWS / GCP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7750" y="3576637"/>
            <a:ext cx="2771775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Chiffrage instance Standard D2 v3 (2 vCPU / 8 Go)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7750" y="4033837"/>
            <a:ext cx="2771775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Impact de la licence OS sur le coût mensuel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750" y="4491037"/>
            <a:ext cx="2771775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Plus Jakarta Sans"/>
              </a:rPr>
              <a:t>Optimisation par plan d'économies 3 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1550" y="3757612"/>
            <a:ext cx="3395662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Comparaison CapEx vs OpEx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1550" y="4033837"/>
            <a:ext cx="3395662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Agilité, maintenance et évolutivité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1550" y="4310062"/>
            <a:ext cx="2771775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16A34A"/>
                </a:solidFill>
                <a:latin typeface="Plus Jakarta Sans"/>
              </a:rPr>
              <a:t>Critères de décision pour le passage au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4475" y="3090862"/>
            <a:ext cx="266283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Partie 1 · Cartographie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4475" y="3328987"/>
            <a:ext cx="25360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Services &amp; Hébergeurs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8275" y="3000375"/>
            <a:ext cx="298787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Partie 2 · Chiffrage Azure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8275" y="3238500"/>
            <a:ext cx="28455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Linux vs Windows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2075" y="3181350"/>
            <a:ext cx="24003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Partie 3 · Rentabilité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075" y="3419475"/>
            <a:ext cx="2286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Cloud vs Serveur Physique</a:t>
            </a:r>
          </a:p>
        </p:txBody>
      </p:sp>
    </p:spTree>
  </p:cSld>
  <p:clrMapOvr>
    <a:masterClrMapping/>
  </p:clrMapOvr>
  <p:transition spd="slow" advTm="2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786062"/>
            <a:ext cx="2120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30549" y="2786062"/>
            <a:ext cx="4171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01904" y="278606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98693" y="2786062"/>
            <a:ext cx="2149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47920" y="2786062"/>
            <a:ext cx="83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186112"/>
            <a:ext cx="2120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30549" y="3186112"/>
            <a:ext cx="4171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01904" y="31861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8693" y="3186112"/>
            <a:ext cx="2149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747920" y="3186112"/>
            <a:ext cx="83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3586162"/>
            <a:ext cx="2120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30549" y="3586162"/>
            <a:ext cx="4171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1904" y="358616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98693" y="3586162"/>
            <a:ext cx="2149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747920" y="3586162"/>
            <a:ext cx="83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3986212"/>
            <a:ext cx="2120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30549" y="3986212"/>
            <a:ext cx="4171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01904" y="39862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98693" y="3986212"/>
            <a:ext cx="2149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747920" y="3986212"/>
            <a:ext cx="83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" y="4386262"/>
            <a:ext cx="2120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30549" y="4386262"/>
            <a:ext cx="4171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01904" y="438626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98693" y="4386262"/>
            <a:ext cx="2149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747920" y="4386262"/>
            <a:ext cx="83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9600" y="4786312"/>
            <a:ext cx="2120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30549" y="4786312"/>
            <a:ext cx="4171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01904" y="47863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98693" y="4786312"/>
            <a:ext cx="2149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747920" y="4786312"/>
            <a:ext cx="83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600" y="5186362"/>
            <a:ext cx="2120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30549" y="5186362"/>
            <a:ext cx="4171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1904" y="518636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98693" y="5186362"/>
            <a:ext cx="2149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747920" y="5186362"/>
            <a:ext cx="83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9600" y="5586412"/>
            <a:ext cx="2120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30549" y="5586412"/>
            <a:ext cx="41713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901904" y="5586412"/>
            <a:ext cx="1696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98693" y="5586412"/>
            <a:ext cx="21492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747920" y="5586412"/>
            <a:ext cx="8344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035254" y="2495550"/>
            <a:ext cx="476250" cy="2000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035254" y="2895600"/>
            <a:ext cx="476250" cy="2000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035254" y="3295650"/>
            <a:ext cx="876300" cy="2000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035254" y="3695700"/>
            <a:ext cx="476250" cy="2000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035254" y="4095750"/>
            <a:ext cx="476250" cy="2000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035254" y="4495800"/>
            <a:ext cx="476250" cy="2000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035254" y="4895850"/>
            <a:ext cx="476250" cy="2000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035254" y="5295900"/>
            <a:ext cx="428625" cy="200025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531712"/>
              </p:ext>
            </p:extLst>
          </p:nvPr>
        </p:nvGraphicFramePr>
        <p:xfrm>
          <a:off x="296510" y="1885197"/>
          <a:ext cx="11282594" cy="3821029"/>
        </p:xfrm>
        <a:graphic>
          <a:graphicData uri="http://schemas.openxmlformats.org/drawingml/2006/table">
            <a:tbl>
              <a:tblPr/>
              <a:tblGrid>
                <a:gridCol w="218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4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81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Application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Usage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Modèle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Hébergeur(s)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NIST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936">
                <a:tc>
                  <a:txBody>
                    <a:bodyPr/>
                    <a:lstStyle/>
                    <a:p>
                      <a:pPr algn="l"/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                   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Pinterest</a:t>
                      </a:r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</a:t>
                      </a:r>
                      <a:endParaRPr sz="1050" b="1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Découverte visuelle &amp; réseau social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AWS, GCP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 /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16">
                <a:tc>
                  <a:txBody>
                    <a:bodyPr/>
                    <a:lstStyle/>
                    <a:p>
                      <a:pPr algn="l"/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                  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Spotify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Streaming audio &amp; média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AWS, GCP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5 /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816">
                <a:tc>
                  <a:txBody>
                    <a:bodyPr/>
                    <a:lstStyle/>
                    <a:p>
                      <a:pPr algn="l"/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                 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Google Play Store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Distribution d'applications mobile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GCP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 /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816">
                <a:tc>
                  <a:txBody>
                    <a:bodyPr/>
                    <a:lstStyle/>
                    <a:p>
                      <a:pPr algn="l"/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                  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Zoom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Visioconférence &amp; collaboration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Oracle Cloud, AWS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5 /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816">
                <a:tc>
                  <a:txBody>
                    <a:bodyPr/>
                    <a:lstStyle/>
                    <a:p>
                      <a:pPr algn="l"/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                 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Notion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Productivité &amp; notes collaboratives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AWS, GCP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 /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109">
                <a:tc>
                  <a:txBody>
                    <a:bodyPr/>
                    <a:lstStyle/>
                    <a:p>
                      <a:pPr algn="l"/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                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Vercel</a:t>
                      </a:r>
                      <a:endParaRPr sz="1050" b="1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Déploiement d'applications frontend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AWS, Cloudflare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 /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243">
                <a:tc>
                  <a:txBody>
                    <a:bodyPr/>
                    <a:lstStyle/>
                    <a:p>
                      <a:pPr algn="l"/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                 </a:t>
                      </a:r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Firebase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Plateforme de développement backend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GCP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 /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61">
                <a:tc>
                  <a:txBody>
                    <a:bodyPr/>
                    <a:lstStyle/>
                    <a:p>
                      <a:pPr algn="l"/>
                      <a:r>
                        <a:rPr lang="fr-FR"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                 </a:t>
                      </a:r>
                      <a:r>
                        <a:rPr sz="1050" b="1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Raxio</a:t>
                      </a:r>
                      <a:endParaRPr sz="1050" b="1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Opérateur de Data Center physique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Raxio Group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2 / 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PARTIE 1 · ANALYSE FONCTIONNELLE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600" y="609600"/>
            <a:ext cx="5648790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Cartographie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des 8 Services Cloud </a:t>
            </a:r>
            <a:r>
              <a:rPr lang="fr-FR" sz="2250" b="1" dirty="0">
                <a:solidFill>
                  <a:srgbClr val="0F172A"/>
                </a:solidFill>
                <a:latin typeface="Plus Jakarta Sans"/>
              </a:rPr>
              <a:t>du quotidien</a:t>
            </a:r>
            <a:endParaRPr sz="22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130504" y="2524125"/>
            <a:ext cx="381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Plus Jakarta Sans"/>
              </a:rPr>
              <a:t>SaaS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0504" y="2924175"/>
            <a:ext cx="381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Plus Jakarta Sans"/>
              </a:rPr>
              <a:t>SaaS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0504" y="3324225"/>
            <a:ext cx="781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Plus Jakarta Sans"/>
              </a:rPr>
              <a:t>SaaS + PaaS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0504" y="3724275"/>
            <a:ext cx="381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Plus Jakarta Sans"/>
              </a:rPr>
              <a:t>SaaS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0504" y="4124325"/>
            <a:ext cx="381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D4ED8"/>
                </a:solidFill>
                <a:latin typeface="Plus Jakarta Sans"/>
              </a:rPr>
              <a:t>SaaS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0504" y="4524375"/>
            <a:ext cx="381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45309"/>
                </a:solidFill>
                <a:latin typeface="Plus Jakarta Sans"/>
              </a:rPr>
              <a:t>PaaS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0504" y="4924425"/>
            <a:ext cx="381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B45309"/>
                </a:solidFill>
                <a:latin typeface="Plus Jakarta Sans"/>
              </a:rPr>
              <a:t>PaaS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0504" y="5324475"/>
            <a:ext cx="3333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C2410C"/>
                </a:solidFill>
                <a:latin typeface="Plus Jakarta Sans"/>
              </a:rPr>
              <a:t>IaaS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3E64F1-0ACB-178B-21D3-C71A50AD6AD6}"/>
              </a:ext>
            </a:extLst>
          </p:cNvPr>
          <p:cNvSpPr/>
          <p:nvPr/>
        </p:nvSpPr>
        <p:spPr>
          <a:xfrm>
            <a:off x="299804" y="2441749"/>
            <a:ext cx="569626" cy="3538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3" name="Image 62">
            <a:extLst>
              <a:ext uri="{FF2B5EF4-FFF2-40B4-BE49-F238E27FC236}">
                <a16:creationId xmlns:a16="http://schemas.microsoft.com/office/drawing/2014/main" id="{443101CE-E7BC-32B8-C490-FDBFC607C5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32" t="13600" r="12698" b="12850"/>
          <a:stretch>
            <a:fillRect/>
          </a:stretch>
        </p:blipFill>
        <p:spPr>
          <a:xfrm>
            <a:off x="513103" y="2365581"/>
            <a:ext cx="297170" cy="296689"/>
          </a:xfrm>
          <a:prstGeom prst="flowChartConnector">
            <a:avLst/>
          </a:prstGeom>
        </p:spPr>
      </p:pic>
      <p:pic>
        <p:nvPicPr>
          <p:cNvPr id="65" name="Image 64">
            <a:extLst>
              <a:ext uri="{FF2B5EF4-FFF2-40B4-BE49-F238E27FC236}">
                <a16:creationId xmlns:a16="http://schemas.microsoft.com/office/drawing/2014/main" id="{D73DF79D-A3DA-4D2C-64B5-7E5092BB7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5924" y="4762130"/>
            <a:ext cx="333745" cy="333745"/>
          </a:xfrm>
          <a:prstGeom prst="rect">
            <a:avLst/>
          </a:prstGeom>
        </p:spPr>
      </p:pic>
      <p:pic>
        <p:nvPicPr>
          <p:cNvPr id="67" name="Image 66">
            <a:extLst>
              <a:ext uri="{FF2B5EF4-FFF2-40B4-BE49-F238E27FC236}">
                <a16:creationId xmlns:a16="http://schemas.microsoft.com/office/drawing/2014/main" id="{68D4F79C-D565-F9E7-3FFE-8C61DA89B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461" y="4447579"/>
            <a:ext cx="430083" cy="241922"/>
          </a:xfrm>
          <a:prstGeom prst="rect">
            <a:avLst/>
          </a:prstGeom>
        </p:spPr>
      </p:pic>
      <p:pic>
        <p:nvPicPr>
          <p:cNvPr id="69" name="Image 68">
            <a:extLst>
              <a:ext uri="{FF2B5EF4-FFF2-40B4-BE49-F238E27FC236}">
                <a16:creationId xmlns:a16="http://schemas.microsoft.com/office/drawing/2014/main" id="{E6ADDD33-E9C7-BEB7-E8FA-17B33D988A0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163" t="23256" r="27348" b="23599"/>
          <a:stretch>
            <a:fillRect/>
          </a:stretch>
        </p:blipFill>
        <p:spPr>
          <a:xfrm>
            <a:off x="507944" y="3937595"/>
            <a:ext cx="307488" cy="351509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B053E26E-8D82-52B2-65A2-CA0700AB986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636" t="13543" r="14134" b="12020"/>
          <a:stretch>
            <a:fillRect/>
          </a:stretch>
        </p:blipFill>
        <p:spPr>
          <a:xfrm>
            <a:off x="502116" y="3542753"/>
            <a:ext cx="319145" cy="315787"/>
          </a:xfrm>
          <a:prstGeom prst="roundRect">
            <a:avLst/>
          </a:prstGeom>
        </p:spPr>
      </p:pic>
      <p:pic>
        <p:nvPicPr>
          <p:cNvPr id="73" name="Image 72">
            <a:extLst>
              <a:ext uri="{FF2B5EF4-FFF2-40B4-BE49-F238E27FC236}">
                <a16:creationId xmlns:a16="http://schemas.microsoft.com/office/drawing/2014/main" id="{49D2CEE1-C187-E31B-C56A-57140AC108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934" y="3105071"/>
            <a:ext cx="430082" cy="430082"/>
          </a:xfrm>
          <a:prstGeom prst="flowChartAlternateProcess">
            <a:avLst/>
          </a:prstGeom>
        </p:spPr>
      </p:pic>
      <p:pic>
        <p:nvPicPr>
          <p:cNvPr id="75" name="Image 74">
            <a:extLst>
              <a:ext uri="{FF2B5EF4-FFF2-40B4-BE49-F238E27FC236}">
                <a16:creationId xmlns:a16="http://schemas.microsoft.com/office/drawing/2014/main" id="{3A30C091-3FA0-CA5D-0FDE-5A1DDA0CC0A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1527" t="12302" r="11869" b="10361"/>
          <a:stretch>
            <a:fillRect/>
          </a:stretch>
        </p:blipFill>
        <p:spPr>
          <a:xfrm flipH="1">
            <a:off x="513800" y="2776107"/>
            <a:ext cx="333744" cy="329205"/>
          </a:xfrm>
          <a:prstGeom prst="flowChartConnector">
            <a:avLst/>
          </a:prstGeom>
        </p:spPr>
      </p:pic>
      <p:pic>
        <p:nvPicPr>
          <p:cNvPr id="77" name="Image 76">
            <a:extLst>
              <a:ext uri="{FF2B5EF4-FFF2-40B4-BE49-F238E27FC236}">
                <a16:creationId xmlns:a16="http://schemas.microsoft.com/office/drawing/2014/main" id="{1A5ADB7C-6B29-CA6F-1513-AFDAEEA8E62E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0093" t="25010" r="26491" b="35759"/>
          <a:stretch>
            <a:fillRect/>
          </a:stretch>
        </p:blipFill>
        <p:spPr>
          <a:xfrm>
            <a:off x="296510" y="5311467"/>
            <a:ext cx="569626" cy="227716"/>
          </a:xfrm>
          <a:prstGeom prst="rect">
            <a:avLst/>
          </a:prstGeom>
        </p:spPr>
      </p:pic>
    </p:spTree>
  </p:cSld>
  <p:clrMapOvr>
    <a:masterClrMapping/>
  </p:clrMapOvr>
  <p:transition spd="slow" advTm="2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1">
            <a:extLst>
              <a:ext uri="{FF2B5EF4-FFF2-40B4-BE49-F238E27FC236}">
                <a16:creationId xmlns:a16="http://schemas.microsoft.com/office/drawing/2014/main" id="{B18784A5-1DF1-A8D7-AAEC-D58BECA8A35B}"/>
              </a:ext>
            </a:extLst>
          </p:cNvPr>
          <p:cNvSpPr/>
          <p:nvPr/>
        </p:nvSpPr>
        <p:spPr>
          <a:xfrm>
            <a:off x="5905500" y="4129087"/>
            <a:ext cx="5562476" cy="1780924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ounded Rectangle 1"/>
          <p:cNvSpPr/>
          <p:nvPr/>
        </p:nvSpPr>
        <p:spPr>
          <a:xfrm>
            <a:off x="5848288" y="1286126"/>
            <a:ext cx="5619688" cy="2676525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95512"/>
            <a:ext cx="505777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67087"/>
            <a:ext cx="505777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38662"/>
            <a:ext cx="5057775" cy="1019175"/>
          </a:xfrm>
          <a:prstGeom prst="roundRect">
            <a:avLst>
              <a:gd name="adj" fmla="val 112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63916" y="1935830"/>
            <a:ext cx="5057775" cy="352425"/>
          </a:xfrm>
          <a:prstGeom prst="roundRect">
            <a:avLst>
              <a:gd name="adj" fmla="val 216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63916" y="2402555"/>
            <a:ext cx="5057775" cy="352425"/>
          </a:xfrm>
          <a:prstGeom prst="roundRect">
            <a:avLst>
              <a:gd name="adj" fmla="val 216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63916" y="2869280"/>
            <a:ext cx="5057775" cy="352425"/>
          </a:xfrm>
          <a:prstGeom prst="roundRect">
            <a:avLst>
              <a:gd name="adj" fmla="val 216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63916" y="3336005"/>
            <a:ext cx="5057775" cy="352425"/>
          </a:xfrm>
          <a:prstGeom prst="roundRect">
            <a:avLst>
              <a:gd name="adj" fmla="val 216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PARTIE 1 · ENSEIGNEMENTS CLÉS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Concentration des Hébergeurs &amp; Conformité 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3916" y="1518235"/>
            <a:ext cx="59436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Répartition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par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Hébergeur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7725" y="2452687"/>
            <a:ext cx="1228725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EA580C"/>
                </a:solidFill>
                <a:latin typeface="Plus Jakarta Sans"/>
              </a:rPr>
              <a:t>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624262"/>
            <a:ext cx="981075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563EB"/>
                </a:solidFill>
                <a:latin typeface="Plus Jakarta Sans"/>
              </a:rPr>
              <a:t>7/8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795837"/>
            <a:ext cx="981075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DC2626"/>
                </a:solidFill>
                <a:latin typeface="Plus Jakarta Sans"/>
              </a:rPr>
              <a:t>2/5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1200" y="2433637"/>
            <a:ext cx="452556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Dépendance AWS / GCP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2633662"/>
            <a:ext cx="3543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7 services sur 8 reposent sur AWS ou GCP (risques de concentration).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3550" y="3605212"/>
            <a:ext cx="48506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Conformité NIST Parfaite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3550" y="3805237"/>
            <a:ext cx="3790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Respectent les 5 critères : libre-service, réseau, mutualisation, élasticité, mesure.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3550" y="4776787"/>
            <a:ext cx="48506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L'Exception Raxio (IaaS)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3550" y="4976812"/>
            <a:ext cx="3790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Hébergement physique sur contrat : valide uniquement mutualisation et mesure.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8216" y="2012030"/>
            <a:ext cx="628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0653" y="2025064"/>
            <a:ext cx="4798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EA580C"/>
                </a:solidFill>
                <a:latin typeface="Plus Jakarta Sans"/>
              </a:rPr>
              <a:t>5 services (Pinterest, Spotify, Zoom, Notion, </a:t>
            </a:r>
            <a:r>
              <a:rPr sz="1200" b="1" i="0" u="none" dirty="0" err="1">
                <a:solidFill>
                  <a:srgbClr val="EA580C"/>
                </a:solidFill>
                <a:latin typeface="Plus Jakarta Sans"/>
              </a:rPr>
              <a:t>Vercel</a:t>
            </a:r>
            <a:r>
              <a:rPr sz="1200" b="1" i="0" u="none" dirty="0">
                <a:solidFill>
                  <a:srgbClr val="EA580C"/>
                </a:solidFill>
                <a:latin typeface="Plus Jakarta Sans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8216" y="2478755"/>
            <a:ext cx="619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GCP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0653" y="2442409"/>
            <a:ext cx="5324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EA580C"/>
                </a:solidFill>
                <a:latin typeface="Plus Jakarta Sans"/>
              </a:rPr>
              <a:t>5 services (Pinterest, Spotify, Play Store, Notion, Firebase)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8216" y="2945480"/>
            <a:ext cx="12573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Oracle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1263" y="2945479"/>
            <a:ext cx="1488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1 service (Zoom)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8216" y="3412205"/>
            <a:ext cx="1066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Cloudflare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5691" y="3424237"/>
            <a:ext cx="1559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1 service (</a:t>
            </a:r>
            <a:r>
              <a:rPr sz="1200" b="1" i="0" u="none" dirty="0" err="1">
                <a:solidFill>
                  <a:srgbClr val="64748B"/>
                </a:solidFill>
                <a:latin typeface="Plus Jakarta Sans"/>
              </a:rPr>
              <a:t>Vercel</a:t>
            </a:r>
            <a:r>
              <a:rPr sz="1200" b="1" i="0" u="none" dirty="0">
                <a:solidFill>
                  <a:srgbClr val="64748B"/>
                </a:solidFill>
                <a:latin typeface="Plus Jakarta Sans"/>
              </a:rPr>
              <a:t>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9AE781-4750-0C95-C8EA-9CD2D090306B}"/>
              </a:ext>
            </a:extLst>
          </p:cNvPr>
          <p:cNvSpPr/>
          <p:nvPr/>
        </p:nvSpPr>
        <p:spPr>
          <a:xfrm>
            <a:off x="6400800" y="4148137"/>
            <a:ext cx="4280234" cy="2381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50" b="1" dirty="0"/>
              <a:t>Quelques images de logo des hébergeurs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D3F67DCB-EC57-3857-A07D-3C822EEBE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153" y="5304063"/>
            <a:ext cx="984048" cy="535621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EC936659-7DB2-A129-08C5-BCD888BDF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147" y="5228869"/>
            <a:ext cx="1219569" cy="686007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A11012B2-3D4D-7565-89CC-87A2DE983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1713" y="4475510"/>
            <a:ext cx="878641" cy="658981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EC3D77E2-62B2-0001-68EF-F6515B2F9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5567" y="4487527"/>
            <a:ext cx="1027196" cy="715271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57299BE9-EFC2-3C7F-376D-762E97762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8662" y="5319712"/>
            <a:ext cx="1618475" cy="5586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557587"/>
            <a:ext cx="2260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70596" y="3557587"/>
            <a:ext cx="3236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07310" y="3557587"/>
            <a:ext cx="1664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1507" y="3557587"/>
            <a:ext cx="1974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745563" y="3557587"/>
            <a:ext cx="18368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929062"/>
            <a:ext cx="2260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70596" y="3929062"/>
            <a:ext cx="3236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07310" y="3929062"/>
            <a:ext cx="1664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1507" y="3929062"/>
            <a:ext cx="1974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45563" y="3929062"/>
            <a:ext cx="18368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4300537"/>
            <a:ext cx="2260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0596" y="4300537"/>
            <a:ext cx="3236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07310" y="4300537"/>
            <a:ext cx="1664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1507" y="4300537"/>
            <a:ext cx="1974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745563" y="4300537"/>
            <a:ext cx="18368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4672012"/>
            <a:ext cx="2260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70596" y="4672012"/>
            <a:ext cx="3236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07310" y="4672012"/>
            <a:ext cx="1664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1507" y="4672012"/>
            <a:ext cx="1974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45563" y="4672012"/>
            <a:ext cx="18368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" y="5072062"/>
            <a:ext cx="2260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70596" y="5072062"/>
            <a:ext cx="3236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07310" y="5072062"/>
            <a:ext cx="1664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1507" y="5072062"/>
            <a:ext cx="1974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45563" y="5072062"/>
            <a:ext cx="18368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09600" y="2838450"/>
          <a:ext cx="10972798" cy="2247900"/>
        </p:xfrm>
        <a:graphic>
          <a:graphicData uri="http://schemas.openxmlformats.org/drawingml/2006/table">
            <a:tbl>
              <a:tblPr/>
              <a:tblGrid>
                <a:gridCol w="2260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6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8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Composant Ressource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Détail Configuration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Linux Mensuel ($)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Windows Mensuel ($)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Écart ($)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Machine Virtuelle (D2 v3)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0,159 $/h (Linux) vs 0,251 $/h (Windows)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115,89 $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183,05 $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+ 67,16 $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Disque Managé SSD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Standard E1, 4 Gio, LRS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0,50 $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0,50 $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0,00 $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Stockage 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 Go, Standard LRS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3,80 $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3,80 $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0,00 $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Transactions Stockage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100 × 10 000 transactions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0,04 $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0,04 $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0,00 $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COÛT TOTAL MENSUEL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Paiement à l'utilisation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120,23 $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A580C"/>
                          </a:solidFill>
                          <a:latin typeface="Plus Jakarta Sans"/>
                        </a:rPr>
                        <a:t>187,39 $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+ 56% (+ 67,16 $)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PARTIE 2 · CHIFFRAGE AZURE (SOUTH AFRICA WEST)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0960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Comparatif Financier : VM Linux Ubuntu vs Windows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25527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Configuration : Instance Standard D2 v3 (2 vCPU / 8 Go RAM / 50 Go Temp) + Disque SSD Standard E1 (4 Go) + Table Storage (50 Go)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000">
        <p15:prstTrans prst="peelOff"/>
      </p:transition>
    </mc:Choice>
    <mc:Fallback xmlns="">
      <p:transition spd="slow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77892" y="2300287"/>
            <a:ext cx="5104507" cy="3152775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19400"/>
            <a:ext cx="5563492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52875"/>
            <a:ext cx="5563492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54117" y="2986087"/>
            <a:ext cx="4552057" cy="1000125"/>
          </a:xfrm>
          <a:prstGeom prst="roundRect">
            <a:avLst>
              <a:gd name="adj" fmla="val 1142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54117" y="4176712"/>
            <a:ext cx="4552057" cy="1000125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PARTIE 2 · ANALYSE DES LEVIES BUDGÉTAIRES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Optimisation : Impact de la Licence &amp; Engagement 3 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4117" y="2576512"/>
            <a:ext cx="543788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Plan d'Économies (Engagement 3 Ans)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019425"/>
            <a:ext cx="6777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A580C"/>
                </a:solidFill>
                <a:latin typeface="Plus Jakarta Sans"/>
              </a:rPr>
              <a:t>Poids Prépondérant de la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257550"/>
            <a:ext cx="52586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La VM représente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96% du coût sous Linux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et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98% sous Windows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. Disques et stockage restent négligeables (&lt; 5 $/mois).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152900"/>
            <a:ext cx="6777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Surcoût Licence OS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391025"/>
            <a:ext cx="525869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+67,16 $/mois (+806 $/an) uniquement pour la licence Windows. Préférer Linux sauf contrainte applicative obligatoire (.NET Framework).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6042" y="3148012"/>
            <a:ext cx="527595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Plus Jakarta Sans"/>
              </a:rPr>
              <a:t>VM LINUX UBUNTU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6042" y="3338512"/>
            <a:ext cx="527595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5803D"/>
                </a:solidFill>
                <a:latin typeface="Plus Jakarta Sans"/>
              </a:rPr>
              <a:t>≈ 68 $ 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/ mois (vs 115,89 $)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6042" y="3671887"/>
            <a:ext cx="527595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66534"/>
                </a:solidFill>
                <a:latin typeface="Plus Jakarta Sans"/>
              </a:rPr>
              <a:t>Économie : </a:t>
            </a:r>
            <a:r>
              <a:rPr sz="975" b="1" i="0" u="none">
                <a:solidFill>
                  <a:srgbClr val="166534"/>
                </a:solidFill>
                <a:latin typeface="Plus Jakarta Sans"/>
              </a:rPr>
              <a:t>817 $/an</a:t>
            </a:r>
            <a:r>
              <a:rPr sz="975" b="0" i="0" u="none">
                <a:solidFill>
                  <a:srgbClr val="166534"/>
                </a:solidFill>
                <a:latin typeface="Plus Jakarta Sans"/>
              </a:rPr>
              <a:t> (~41% de réduction)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6042" y="4338637"/>
            <a:ext cx="527595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Plus Jakarta Sans"/>
              </a:rPr>
              <a:t>VM 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6042" y="4529137"/>
            <a:ext cx="527595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4ED8"/>
                </a:solidFill>
                <a:latin typeface="Plus Jakarta Sans"/>
              </a:rPr>
              <a:t>≈ 105 $ 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/ mois (vs 183,05 $)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6042" y="4862512"/>
            <a:ext cx="527595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40AF"/>
                </a:solidFill>
                <a:latin typeface="Plus Jakarta Sans"/>
              </a:rPr>
              <a:t>Économie : </a:t>
            </a:r>
            <a:r>
              <a:rPr sz="975" b="1" i="0" u="none">
                <a:solidFill>
                  <a:srgbClr val="1E40AF"/>
                </a:solidFill>
                <a:latin typeface="Plus Jakarta Sans"/>
              </a:rPr>
              <a:t>1 260 $/an</a:t>
            </a:r>
            <a:r>
              <a:rPr sz="975" b="0" i="0" u="none">
                <a:solidFill>
                  <a:srgbClr val="1E40AF"/>
                </a:solidFill>
                <a:latin typeface="Plus Jakarta Sans"/>
              </a:rPr>
              <a:t> (~42% de réduction)</a:t>
            </a:r>
          </a:p>
        </p:txBody>
      </p:sp>
    </p:spTree>
  </p:cSld>
  <p:clrMapOvr>
    <a:masterClrMapping/>
  </p:clrMapOvr>
  <p:transition spd="slow" advTm="200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429000"/>
            <a:ext cx="1901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10730" y="3429000"/>
            <a:ext cx="3246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56969" y="3429000"/>
            <a:ext cx="2336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92975" y="3429000"/>
            <a:ext cx="34894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800475"/>
            <a:ext cx="1901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10730" y="3800475"/>
            <a:ext cx="3246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56969" y="3800475"/>
            <a:ext cx="2336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2975" y="3800475"/>
            <a:ext cx="34894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171950"/>
            <a:ext cx="1901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10730" y="4171950"/>
            <a:ext cx="3246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56969" y="4171950"/>
            <a:ext cx="2336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975" y="4171950"/>
            <a:ext cx="34894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4543425"/>
            <a:ext cx="1901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10730" y="4543425"/>
            <a:ext cx="3246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56969" y="4543425"/>
            <a:ext cx="2336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975" y="4543425"/>
            <a:ext cx="34894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4914900"/>
            <a:ext cx="19011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10730" y="4914900"/>
            <a:ext cx="3246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56969" y="4914900"/>
            <a:ext cx="2336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975" y="4914900"/>
            <a:ext cx="34894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2709862"/>
          <a:ext cx="10972799" cy="2219325"/>
        </p:xfrm>
        <a:graphic>
          <a:graphicData uri="http://schemas.openxmlformats.org/drawingml/2006/table">
            <a:tbl>
              <a:tblPr/>
              <a:tblGrid>
                <a:gridCol w="1901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8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Critère de Choix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VM Cloud (Azure / AWS)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Serveur Physique On-Premise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Atout Décisif du Cloud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Coût Initial (CapEx)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Faible / Nul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Élevé (Achat matériel)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Pas d'investissement de départ requis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Déploiement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Minutes (Instantané)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Jours / Semaines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Agilité et mise en production immédiate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Évolutivité (Scalabilité)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Très Élevée (Ajustement à la hausse/baisse)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Limitée au matériel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Capacité à faire face aux pics de charge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Maintenance &amp; Infra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Déléguée au Fournisseur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À la charge de l'Entreprise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Pas de gestion de local ni d'électricité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9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Niveau de Contrôle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Partiel (Infrastructures partagées)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Total (Matériel dédié)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Contrôle physique en cas d'exigence souveraine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PARTIE 3 · ANALYSE STRATÉGIQUE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0960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VM Cloud vs Serveur Physique On-Premise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2000">
        <p15:prstTrans prst="drape"/>
      </p:transition>
    </mc:Choice>
    <mc:Fallback xmlns="">
      <p:transition spd="slow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709987" y="4810125"/>
            <a:ext cx="4772025" cy="495300"/>
          </a:xfrm>
          <a:prstGeom prst="roundRect">
            <a:avLst>
              <a:gd name="adj" fmla="val 23076"/>
            </a:avLst>
          </a:prstGeom>
          <a:solidFill>
            <a:srgbClr val="2E2830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314575" y="2952750"/>
            <a:ext cx="7562850" cy="428625"/>
          </a:xfrm>
          <a:prstGeom prst="roundRect">
            <a:avLst>
              <a:gd name="adj" fmla="val 22222"/>
            </a:avLst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14575" y="3514725"/>
            <a:ext cx="7562850" cy="428625"/>
          </a:xfrm>
          <a:prstGeom prst="roundRect">
            <a:avLst>
              <a:gd name="adj" fmla="val 22222"/>
            </a:avLst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14575" y="4076700"/>
            <a:ext cx="7562850" cy="428625"/>
          </a:xfrm>
          <a:prstGeom prst="roundRect">
            <a:avLst>
              <a:gd name="adj" fmla="val 22222"/>
            </a:avLst>
          </a:prstGeom>
          <a:solidFill>
            <a:srgbClr val="23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14575" y="2952750"/>
            <a:ext cx="28575" cy="4286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14575" y="3514725"/>
            <a:ext cx="28575" cy="4286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14575" y="4076700"/>
            <a:ext cx="28575" cy="4286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1552575"/>
            <a:ext cx="571500" cy="571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462" y="1714500"/>
            <a:ext cx="2190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650" y="3081337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3650" y="3643312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650" y="4205287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01850" y="2314575"/>
            <a:ext cx="6388298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Plus Jakarta Sans"/>
              </a:rPr>
              <a:t>Bilan &amp; Recommandations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0184" y="4943475"/>
            <a:ext cx="54316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97316"/>
                </a:solidFill>
                <a:latin typeface="Plus Jakarta Sans"/>
              </a:rPr>
              <a:t> Merci pour votre attention ! Avez-vous des questions ?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9400" y="3067050"/>
            <a:ext cx="6822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Modèles :</a:t>
            </a:r>
            <a:r>
              <a:rPr sz="1200" b="0" i="0" u="none">
                <a:solidFill>
                  <a:srgbClr val="E2E8F0"/>
                </a:solidFill>
                <a:latin typeface="Plus Jakarta Sans"/>
              </a:rPr>
              <a:t> Ultra-dominance du SaaS et du PaaS dans nos usages quotidiens.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9400" y="3629025"/>
            <a:ext cx="8584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Choix Technique :</a:t>
            </a:r>
            <a:r>
              <a:rPr sz="1200" b="0" i="0" u="none">
                <a:solidFill>
                  <a:srgbClr val="E2E8F0"/>
                </a:solidFill>
                <a:latin typeface="Plus Jakarta Sans"/>
              </a:rPr>
              <a:t> Privilégier </a:t>
            </a:r>
            <a:r>
              <a:rPr sz="1200" b="1" i="0" u="none">
                <a:solidFill>
                  <a:srgbClr val="E2E8F0"/>
                </a:solidFill>
                <a:latin typeface="Plus Jakarta Sans"/>
              </a:rPr>
              <a:t>Linux</a:t>
            </a:r>
            <a:r>
              <a:rPr sz="1200" b="0" i="0" u="none">
                <a:solidFill>
                  <a:srgbClr val="E2E8F0"/>
                </a:solidFill>
                <a:latin typeface="Plus Jakarta Sans"/>
              </a:rPr>
              <a:t> (économies de 56% vs Windows) sauf besoin applicatif .NET.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9400" y="4191000"/>
            <a:ext cx="7703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Arbitrage Infra :</a:t>
            </a:r>
            <a:r>
              <a:rPr sz="1200" b="0" i="0" u="none">
                <a:solidFill>
                  <a:srgbClr val="E2E8F0"/>
                </a:solidFill>
                <a:latin typeface="Plus Jakarta Sans"/>
              </a:rPr>
              <a:t> Prioriser le </a:t>
            </a:r>
            <a:r>
              <a:rPr sz="1200" b="1" i="0" u="none">
                <a:solidFill>
                  <a:srgbClr val="E2E8F0"/>
                </a:solidFill>
                <a:latin typeface="Plus Jakarta Sans"/>
              </a:rPr>
              <a:t>Cloud pour l'agilité</a:t>
            </a:r>
            <a:r>
              <a:rPr sz="1200" b="0" i="0" u="none">
                <a:solidFill>
                  <a:srgbClr val="E2E8F0"/>
                </a:solidFill>
                <a:latin typeface="Plus Jakarta Sans"/>
              </a:rPr>
              <a:t>, le physique pour le contrôle souverain.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14:ripple/>
        <p:sndAc>
          <p:stSnd>
            <p:snd r:embed="rId2" name="applause.wav"/>
          </p:stSnd>
        </p:sndAc>
      </p:transition>
    </mc:Choice>
    <mc:Fallback xmlns="">
      <p:transition spd="slow" advTm="2000">
        <p:fade/>
        <p:sndAc>
          <p:stSnd>
            <p:snd r:embed="rId8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859</Words>
  <Application>Microsoft Office PowerPoint</Application>
  <PresentationFormat>Grand écran</PresentationFormat>
  <Paragraphs>177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Plus Jakarta Sans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YEPI CHRIST-EMMANUEL ABE</cp:lastModifiedBy>
  <cp:revision>5</cp:revision>
  <dcterms:created xsi:type="dcterms:W3CDTF">2013-01-27T09:14:16Z</dcterms:created>
  <dcterms:modified xsi:type="dcterms:W3CDTF">2026-10-08T19:56:20Z</dcterms:modified>
  <cp:category/>
</cp:coreProperties>
</file>